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Fira Sans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F256B-A6F0-4DF9-933B-6E9CA3CBBEC3}">
  <a:tblStyle styleId="{201F256B-A6F0-4DF9-933B-6E9CA3CBBE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FiraSansMedium-bold.fntdata"/><Relationship Id="rId25" Type="http://schemas.openxmlformats.org/officeDocument/2006/relationships/font" Target="fonts/FiraSansMedium-regular.fntdata"/><Relationship Id="rId28" Type="http://schemas.openxmlformats.org/officeDocument/2006/relationships/font" Target="fonts/FiraSansMedium-boldItalic.fntdata"/><Relationship Id="rId27" Type="http://schemas.openxmlformats.org/officeDocument/2006/relationships/font" Target="fonts/FiraSans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04f1bc08d3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Sruthi</a:t>
            </a:r>
            <a:endParaRPr/>
          </a:p>
        </p:txBody>
      </p:sp>
      <p:sp>
        <p:nvSpPr>
          <p:cNvPr id="130" name="Google Shape;130;g104f1bc08d3_2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4f1bc08d3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Sruthi</a:t>
            </a:r>
            <a:endParaRPr/>
          </a:p>
        </p:txBody>
      </p:sp>
      <p:sp>
        <p:nvSpPr>
          <p:cNvPr id="150" name="Google Shape;150;g104f1bc08d3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4f1bc08d3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04f1bc08d3_2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d0be88d9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cd0be88d9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4f1bc08d3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104f1bc08d3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d0be88d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d0be88d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d0be88d9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cd0be88d9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04f1bc08d3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04f1bc08d3_2_1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cd028cb3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cd028cb38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cd028cb3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cd028cb38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d028cb38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cd028cb38a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04f1bc08d3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104f1bc08d3_2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4f1bc08d3_2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104f1bc08d3_2_2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04f1bc08d3_2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104f1bc08d3_2_2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cd0be88d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2cd0be88d9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cc828797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cc8287976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4f1bc08d3_2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104f1bc08d3_2_5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5514974" y="821531"/>
            <a:ext cx="2693194" cy="35004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>
            <p:ph idx="2" type="pic"/>
          </p:nvPr>
        </p:nvSpPr>
        <p:spPr>
          <a:xfrm>
            <a:off x="816769" y="1452951"/>
            <a:ext cx="3904958" cy="25122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/>
          <p:nvPr>
            <p:ph idx="3" type="pic"/>
          </p:nvPr>
        </p:nvSpPr>
        <p:spPr>
          <a:xfrm>
            <a:off x="4335870" y="1965008"/>
            <a:ext cx="1070796" cy="22002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 rot="5400000">
            <a:off x="7474687" y="3408336"/>
            <a:ext cx="2195321" cy="2864751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7973451" y="3990706"/>
            <a:ext cx="1083599" cy="1007710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7"/>
          <p:cNvSpPr/>
          <p:nvPr/>
        </p:nvSpPr>
        <p:spPr>
          <a:xfrm rot="2476617">
            <a:off x="-1232792" y="-2244304"/>
            <a:ext cx="2693203" cy="4717449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7"/>
          <p:cNvSpPr/>
          <p:nvPr/>
        </p:nvSpPr>
        <p:spPr>
          <a:xfrm rot="3140557">
            <a:off x="-2119622" y="-2669305"/>
            <a:ext cx="3019830" cy="5329341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7"/>
          <p:cNvSpPr/>
          <p:nvPr/>
        </p:nvSpPr>
        <p:spPr>
          <a:xfrm rot="8902757">
            <a:off x="612217" y="298609"/>
            <a:ext cx="1026500" cy="954610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7"/>
          <p:cNvGrpSpPr/>
          <p:nvPr/>
        </p:nvGrpSpPr>
        <p:grpSpPr>
          <a:xfrm>
            <a:off x="676750" y="467587"/>
            <a:ext cx="8531100" cy="1922647"/>
            <a:chOff x="2397450" y="1835608"/>
            <a:chExt cx="11374800" cy="2563530"/>
          </a:xfrm>
        </p:grpSpPr>
        <p:sp>
          <p:nvSpPr>
            <p:cNvPr id="138" name="Google Shape;138;p27"/>
            <p:cNvSpPr txBox="1"/>
            <p:nvPr/>
          </p:nvSpPr>
          <p:spPr>
            <a:xfrm>
              <a:off x="2397450" y="1835608"/>
              <a:ext cx="11374800" cy="214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Predictive Modeling for Product Pricing on</a:t>
              </a:r>
              <a:r>
                <a:rPr b="1" lang="en" sz="5000">
                  <a:solidFill>
                    <a:schemeClr val="dk1"/>
                  </a:solidFill>
                </a:rPr>
                <a:t> </a:t>
              </a:r>
              <a:r>
                <a:rPr b="1" lang="en" sz="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b="1" lang="en" sz="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mazon</a:t>
              </a:r>
              <a:endParaRPr sz="7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9" name="Google Shape;139;p27"/>
            <p:cNvGrpSpPr/>
            <p:nvPr/>
          </p:nvGrpSpPr>
          <p:grpSpPr>
            <a:xfrm>
              <a:off x="10434910" y="3906962"/>
              <a:ext cx="2560981" cy="492176"/>
              <a:chOff x="14793537" y="4007088"/>
              <a:chExt cx="4884388" cy="1132564"/>
            </a:xfrm>
          </p:grpSpPr>
          <p:sp>
            <p:nvSpPr>
              <p:cNvPr id="140" name="Google Shape;140;p27"/>
              <p:cNvSpPr/>
              <p:nvPr/>
            </p:nvSpPr>
            <p:spPr>
              <a:xfrm>
                <a:off x="14793537" y="4007088"/>
                <a:ext cx="4552230" cy="1132564"/>
              </a:xfrm>
              <a:custGeom>
                <a:rect b="b" l="l" r="r" t="t"/>
                <a:pathLst>
                  <a:path extrusionOk="0" h="1039050" w="4609853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7"/>
              <p:cNvSpPr/>
              <p:nvPr/>
            </p:nvSpPr>
            <p:spPr>
              <a:xfrm>
                <a:off x="18742216" y="4007088"/>
                <a:ext cx="935709" cy="1017247"/>
              </a:xfrm>
              <a:custGeom>
                <a:rect b="b" l="l" r="r" t="t"/>
                <a:pathLst>
                  <a:path extrusionOk="0" h="933254" w="947553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411" y="2390338"/>
            <a:ext cx="901596" cy="135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/>
        </p:nvSpPr>
        <p:spPr>
          <a:xfrm>
            <a:off x="4075400" y="3703175"/>
            <a:ext cx="9756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Amogh Vig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2275" y="2390350"/>
            <a:ext cx="901600" cy="135273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2681300" y="3700900"/>
            <a:ext cx="1083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Sruthi Pappu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4600" y="2352113"/>
            <a:ext cx="1034134" cy="13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/>
        </p:nvSpPr>
        <p:spPr>
          <a:xfrm>
            <a:off x="5361488" y="3700900"/>
            <a:ext cx="13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Imran Mohammed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0" y="-243655"/>
            <a:ext cx="3279645" cy="5631565"/>
          </a:xfrm>
          <a:custGeom>
            <a:rect b="b" l="l" r="r" t="t"/>
            <a:pathLst>
              <a:path extrusionOk="0" h="7508753" w="4372860">
                <a:moveTo>
                  <a:pt x="2661351" y="1435"/>
                </a:moveTo>
                <a:cubicBezTo>
                  <a:pt x="3355974" y="-17624"/>
                  <a:pt x="4057718" y="149141"/>
                  <a:pt x="4282136" y="739952"/>
                </a:cubicBezTo>
                <a:cubicBezTo>
                  <a:pt x="4506550" y="1335535"/>
                  <a:pt x="4253639" y="2350402"/>
                  <a:pt x="4175271" y="3127041"/>
                </a:cubicBezTo>
                <a:cubicBezTo>
                  <a:pt x="4100464" y="3898913"/>
                  <a:pt x="4207329" y="4432554"/>
                  <a:pt x="4164583" y="5152012"/>
                </a:cubicBezTo>
                <a:cubicBezTo>
                  <a:pt x="4118277" y="5871476"/>
                  <a:pt x="3929480" y="6771996"/>
                  <a:pt x="3477088" y="7200814"/>
                </a:cubicBezTo>
                <a:cubicBezTo>
                  <a:pt x="3081241" y="7576030"/>
                  <a:pt x="2489032" y="7586452"/>
                  <a:pt x="1951028" y="7350182"/>
                </a:cubicBezTo>
                <a:lnTo>
                  <a:pt x="1790700" y="7268067"/>
                </a:lnTo>
                <a:lnTo>
                  <a:pt x="1790700" y="7360673"/>
                </a:lnTo>
                <a:lnTo>
                  <a:pt x="0" y="7360673"/>
                </a:lnTo>
                <a:lnTo>
                  <a:pt x="0" y="185173"/>
                </a:lnTo>
                <a:lnTo>
                  <a:pt x="1659303" y="185173"/>
                </a:lnTo>
                <a:lnTo>
                  <a:pt x="1661275" y="184277"/>
                </a:lnTo>
                <a:cubicBezTo>
                  <a:pt x="1972964" y="63374"/>
                  <a:pt x="2315821" y="8581"/>
                  <a:pt x="2661351" y="1435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468498" y="2207077"/>
            <a:ext cx="2025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Outline</a:t>
            </a:r>
            <a:endParaRPr sz="300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4767835" y="508888"/>
            <a:ext cx="26868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Problem Statement</a:t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4767832" y="997238"/>
            <a:ext cx="2838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Exploratory Data Analysis</a:t>
            </a:r>
            <a:endParaRPr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4767847" y="1487286"/>
            <a:ext cx="176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Feature Engineering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4767839" y="1957863"/>
            <a:ext cx="3127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Overview of Modeling Pipelines Explored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4767847" y="2354734"/>
            <a:ext cx="176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Experimental results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59" name="Google Shape;159;p28"/>
          <p:cNvGrpSpPr/>
          <p:nvPr/>
        </p:nvGrpSpPr>
        <p:grpSpPr>
          <a:xfrm>
            <a:off x="4398735" y="548742"/>
            <a:ext cx="116972" cy="3452886"/>
            <a:chOff x="5198868" y="938018"/>
            <a:chExt cx="155963" cy="4603848"/>
          </a:xfrm>
        </p:grpSpPr>
        <p:cxnSp>
          <p:nvCxnSpPr>
            <p:cNvPr id="160" name="Google Shape;160;p28"/>
            <p:cNvCxnSpPr>
              <a:endCxn id="161" idx="4"/>
            </p:cNvCxnSpPr>
            <p:nvPr/>
          </p:nvCxnSpPr>
          <p:spPr>
            <a:xfrm>
              <a:off x="5276849" y="1015466"/>
              <a:ext cx="0" cy="4526400"/>
            </a:xfrm>
            <a:prstGeom prst="straightConnector1">
              <a:avLst/>
            </a:prstGeom>
            <a:noFill/>
            <a:ln cap="rnd" cmpd="sng" w="28575">
              <a:solidFill>
                <a:srgbClr val="666666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62" name="Google Shape;162;p28"/>
            <p:cNvSpPr/>
            <p:nvPr/>
          </p:nvSpPr>
          <p:spPr>
            <a:xfrm>
              <a:off x="5198868" y="938018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5198868" y="1564585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5198868" y="2191152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5198868" y="2846291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5198868" y="3480003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5198868" y="4113718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5198868" y="4749810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5198868" y="5385903"/>
              <a:ext cx="155963" cy="155963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28"/>
          <p:cNvSpPr txBox="1"/>
          <p:nvPr/>
        </p:nvSpPr>
        <p:spPr>
          <a:xfrm>
            <a:off x="4767847" y="2831183"/>
            <a:ext cx="176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Key Findings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4767831" y="3307638"/>
            <a:ext cx="2903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Conclusion and Next Steps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4767831" y="3787688"/>
            <a:ext cx="2903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Open issues or problems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" name="Google Shape;172;p28"/>
          <p:cNvSpPr/>
          <p:nvPr/>
        </p:nvSpPr>
        <p:spPr>
          <a:xfrm rot="-9217753">
            <a:off x="8412877" y="3672143"/>
            <a:ext cx="938952" cy="165793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/>
          <p:nvPr/>
        </p:nvSpPr>
        <p:spPr>
          <a:xfrm flipH="1" rot="3308474">
            <a:off x="8326899" y="4228769"/>
            <a:ext cx="938952" cy="165793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3756043" y="508903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01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756043" y="977532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02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3756043" y="1444946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03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3756043" y="1934999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04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3756043" y="2416737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05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3756043" y="2889746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06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3756043" y="3366196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07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3756043" y="3842645"/>
            <a:ext cx="554514" cy="2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08</a:t>
            </a:r>
            <a:endParaRPr sz="14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/>
          <p:nvPr/>
        </p:nvSpPr>
        <p:spPr>
          <a:xfrm>
            <a:off x="-200025" y="-2447245"/>
            <a:ext cx="9544050" cy="4265840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5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7" name="Google Shape;187;p29"/>
          <p:cNvGrpSpPr/>
          <p:nvPr/>
        </p:nvGrpSpPr>
        <p:grpSpPr>
          <a:xfrm>
            <a:off x="704872" y="773412"/>
            <a:ext cx="7734254" cy="1369713"/>
            <a:chOff x="3311855" y="3736152"/>
            <a:chExt cx="4123771" cy="928902"/>
          </a:xfrm>
        </p:grpSpPr>
        <p:sp>
          <p:nvSpPr>
            <p:cNvPr id="188" name="Google Shape;188;p29"/>
            <p:cNvSpPr/>
            <p:nvPr/>
          </p:nvSpPr>
          <p:spPr>
            <a:xfrm>
              <a:off x="3311855" y="3817376"/>
              <a:ext cx="3760826" cy="847678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6662590" y="3736152"/>
              <a:ext cx="773036" cy="761368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9"/>
          <p:cNvSpPr txBox="1"/>
          <p:nvPr/>
        </p:nvSpPr>
        <p:spPr>
          <a:xfrm>
            <a:off x="0" y="2143350"/>
            <a:ext cx="8823300" cy="27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is the largest online retailer in the world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predictive model using Amazon Reviews 2023 dataset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product prices based on features found on Amazon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(product description, product rating, etc.)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aims to provide insights into pricing strategies for sellers and assist buyers in making informed decisions.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ultimate objective is to optimize pricing for both sellers and buyers, improving the overall e-commerce experience.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goal is to develop a machine learning model to predict the price of products listed on Amazon.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model will utilize features such as category, brand, and specifications to make predictions.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Regression techniques like linear regression, random forest, and XGBoost will be employed.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project aims to provide insights into pricing strategies for sellers and assist buyers in making informed decisions.</a:t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The ultimate objective is to optimize pricing for both sellers and buyers, improving the overall e-commerce experience.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/>
          <p:nvPr/>
        </p:nvSpPr>
        <p:spPr>
          <a:xfrm rot="7706238">
            <a:off x="8753064" y="4285375"/>
            <a:ext cx="581027" cy="54033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30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7"/>
          </a:xfrm>
        </p:grpSpPr>
        <p:sp>
          <p:nvSpPr>
            <p:cNvPr id="199" name="Google Shape;199;p30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30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/>
        </p:nvSpPr>
        <p:spPr>
          <a:xfrm>
            <a:off x="464270" y="215625"/>
            <a:ext cx="4998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Exploratory Data Analysis</a:t>
            </a:r>
            <a:endParaRPr sz="3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445350" y="1280700"/>
            <a:ext cx="82533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Huggingface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Started with both review metadata and user review data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277 GB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Later focused on the metadata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 GB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review data contained information about the review, not product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Contained information about price, rating, category, store, d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escription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/>
          <p:nvPr/>
        </p:nvSpPr>
        <p:spPr>
          <a:xfrm rot="7706238">
            <a:off x="8753064" y="4285375"/>
            <a:ext cx="581027" cy="54033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31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7"/>
          </a:xfrm>
        </p:grpSpPr>
        <p:sp>
          <p:nvSpPr>
            <p:cNvPr id="209" name="Google Shape;209;p31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1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Exploratory Data Analysis</a:t>
            </a:r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b="0" l="999" r="0" t="0"/>
          <a:stretch/>
        </p:blipFill>
        <p:spPr>
          <a:xfrm>
            <a:off x="82125" y="830212"/>
            <a:ext cx="4444726" cy="27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/>
          <p:nvPr/>
        </p:nvSpPr>
        <p:spPr>
          <a:xfrm rot="7706238">
            <a:off x="8753064" y="4285375"/>
            <a:ext cx="581027" cy="54033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32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7"/>
          </a:xfrm>
        </p:grpSpPr>
        <p:sp>
          <p:nvSpPr>
            <p:cNvPr id="219" name="Google Shape;219;p32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2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850" y="2348262"/>
            <a:ext cx="4522000" cy="2566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Exploratory Data Analysis</a:t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0" y="1017725"/>
            <a:ext cx="3640025" cy="344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 rot="7706238">
            <a:off x="8753064" y="4285375"/>
            <a:ext cx="581027" cy="54033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 rotWithShape="1">
          <a:blip r:embed="rId4">
            <a:alphaModFix/>
          </a:blip>
          <a:srcRect b="0" l="0" r="970" t="1632"/>
          <a:stretch/>
        </p:blipFill>
        <p:spPr>
          <a:xfrm>
            <a:off x="3850225" y="1078325"/>
            <a:ext cx="5100801" cy="3377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33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7"/>
          </a:xfrm>
        </p:grpSpPr>
        <p:sp>
          <p:nvSpPr>
            <p:cNvPr id="231" name="Google Shape;231;p33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3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 rot="3044999">
            <a:off x="5810112" y="-818645"/>
            <a:ext cx="4084826" cy="5918472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6766659" y="4959429"/>
            <a:ext cx="2748143" cy="370703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6937924" y="4726137"/>
            <a:ext cx="2576877" cy="370703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7632501" y="3434909"/>
            <a:ext cx="1815816" cy="1407876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38459" y="206975"/>
            <a:ext cx="508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Feature Engineering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592" y="-242134"/>
            <a:ext cx="1727160" cy="574961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 txBox="1"/>
          <p:nvPr/>
        </p:nvSpPr>
        <p:spPr>
          <a:xfrm>
            <a:off x="445350" y="1280700"/>
            <a:ext cx="61281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number of columns were completely empty for certain categories, i.e. bought_together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Dropped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 columns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not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compatible or important, i.e. Images, videos, ID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null values in the price column and dataset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Dropped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/>
          <p:nvPr/>
        </p:nvSpPr>
        <p:spPr>
          <a:xfrm rot="3044999">
            <a:off x="5810112" y="-818645"/>
            <a:ext cx="4084826" cy="5918472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5"/>
          <p:cNvSpPr/>
          <p:nvPr/>
        </p:nvSpPr>
        <p:spPr>
          <a:xfrm>
            <a:off x="6766659" y="4959429"/>
            <a:ext cx="2748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6937924" y="4726137"/>
            <a:ext cx="2577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7632501" y="3434909"/>
            <a:ext cx="1815900" cy="14079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438459" y="206975"/>
            <a:ext cx="508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Feature Engineering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53" name="Google Shape;2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592" y="-242134"/>
            <a:ext cx="1727160" cy="574961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 txBox="1"/>
          <p:nvPr/>
        </p:nvSpPr>
        <p:spPr>
          <a:xfrm>
            <a:off x="445350" y="3230100"/>
            <a:ext cx="61281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df contained both numerical values and string values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400" y="988984"/>
            <a:ext cx="9144000" cy="224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/>
          <p:nvPr/>
        </p:nvSpPr>
        <p:spPr>
          <a:xfrm rot="3044999">
            <a:off x="5810112" y="-818645"/>
            <a:ext cx="4084826" cy="5918472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6"/>
          <p:cNvSpPr/>
          <p:nvPr/>
        </p:nvSpPr>
        <p:spPr>
          <a:xfrm>
            <a:off x="6766659" y="4959429"/>
            <a:ext cx="2748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6"/>
          <p:cNvSpPr/>
          <p:nvPr/>
        </p:nvSpPr>
        <p:spPr>
          <a:xfrm>
            <a:off x="6937924" y="4726137"/>
            <a:ext cx="2577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6"/>
          <p:cNvSpPr/>
          <p:nvPr/>
        </p:nvSpPr>
        <p:spPr>
          <a:xfrm>
            <a:off x="7632501" y="3434909"/>
            <a:ext cx="1815900" cy="14079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438459" y="206975"/>
            <a:ext cx="508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Feature Engineering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592" y="-242134"/>
            <a:ext cx="1727160" cy="574961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/>
        </p:nvSpPr>
        <p:spPr>
          <a:xfrm>
            <a:off x="445350" y="872925"/>
            <a:ext cx="38244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hot encoded categorical strings like Store and Categories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 to use hashing on Store due to limitations in the Generalized Linear Regression Model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9738" y="904625"/>
            <a:ext cx="5414574" cy="37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/>
          <p:nvPr/>
        </p:nvSpPr>
        <p:spPr>
          <a:xfrm rot="3044999">
            <a:off x="5810112" y="-818645"/>
            <a:ext cx="4084826" cy="5918472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7"/>
          <p:cNvSpPr/>
          <p:nvPr/>
        </p:nvSpPr>
        <p:spPr>
          <a:xfrm>
            <a:off x="6766659" y="4959429"/>
            <a:ext cx="2748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6937924" y="4726137"/>
            <a:ext cx="2577000" cy="3708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7632501" y="3434909"/>
            <a:ext cx="1815900" cy="1407900"/>
          </a:xfrm>
          <a:prstGeom prst="rect">
            <a:avLst/>
          </a:pr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438459" y="206975"/>
            <a:ext cx="508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Feature Engineering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77" name="Google Shape;2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592" y="-242134"/>
            <a:ext cx="1727160" cy="574961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/>
        </p:nvSpPr>
        <p:spPr>
          <a:xfrm>
            <a:off x="445350" y="872925"/>
            <a:ext cx="68154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descriptive 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like Title and Features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used Term-Frequency Inverse Document Frequency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900" y="2064449"/>
            <a:ext cx="7950350" cy="28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/>
        </p:nvSpPr>
        <p:spPr>
          <a:xfrm>
            <a:off x="447973" y="206975"/>
            <a:ext cx="8507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Overview of Modeling Pipelines Explored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" name="Google Shape;285;p38"/>
          <p:cNvSpPr/>
          <p:nvPr/>
        </p:nvSpPr>
        <p:spPr>
          <a:xfrm rot="7707741">
            <a:off x="8752632" y="4285078"/>
            <a:ext cx="581372" cy="540656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38"/>
          <p:cNvGrpSpPr/>
          <p:nvPr/>
        </p:nvGrpSpPr>
        <p:grpSpPr>
          <a:xfrm rot="-9453103">
            <a:off x="7514807" y="4076809"/>
            <a:ext cx="2066843" cy="2172277"/>
            <a:chOff x="-845286" y="-1196058"/>
            <a:chExt cx="2755665" cy="2896237"/>
          </a:xfrm>
        </p:grpSpPr>
        <p:sp>
          <p:nvSpPr>
            <p:cNvPr id="287" name="Google Shape;287;p38"/>
            <p:cNvSpPr/>
            <p:nvPr/>
          </p:nvSpPr>
          <p:spPr>
            <a:xfrm rot="2473360">
              <a:off x="-270416" y="-649434"/>
              <a:ext cx="1250997" cy="2212398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8"/>
            <p:cNvSpPr/>
            <p:nvPr/>
          </p:nvSpPr>
          <p:spPr>
            <a:xfrm flipH="1" rot="-6594984">
              <a:off x="31803" y="-1336264"/>
              <a:ext cx="1251756" cy="2211593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38"/>
          <p:cNvSpPr txBox="1"/>
          <p:nvPr/>
        </p:nvSpPr>
        <p:spPr>
          <a:xfrm>
            <a:off x="445350" y="1280700"/>
            <a:ext cx="82533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Linear Regression as baseline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Tried Random Forest, Gradient Boosted Tree Regression, Generalized Linear Regression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Approaches: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Tried normalizing the data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Tree-Structured Parzen Estimator (TPE) optimization for hyperparameter optimization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hyperparameter optimization, we realized the best parameters are elasticNetParam, regParam.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/>
        </p:nvSpPr>
        <p:spPr>
          <a:xfrm>
            <a:off x="438454" y="208500"/>
            <a:ext cx="49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Experimental Results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aphicFrame>
        <p:nvGraphicFramePr>
          <p:cNvPr id="295" name="Google Shape;295;p39"/>
          <p:cNvGraphicFramePr/>
          <p:nvPr/>
        </p:nvGraphicFramePr>
        <p:xfrm>
          <a:off x="438450" y="106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{201F256B-A6F0-4DF9-933B-6E9CA3CBBEC3}</a:tableStyleId>
              </a:tblPr>
              <a:tblGrid>
                <a:gridCol w="2413000"/>
                <a:gridCol w="2413000"/>
                <a:gridCol w="2413000"/>
              </a:tblGrid>
              <a:tr h="4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Train RMSE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Test RMSE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4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113.961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115.333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114.817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135.849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Boosted Tree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139.123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140.614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Generalized Linear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128.699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134.895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" name="Google Shape;296;p39"/>
          <p:cNvSpPr txBox="1"/>
          <p:nvPr/>
        </p:nvSpPr>
        <p:spPr>
          <a:xfrm>
            <a:off x="740400" y="4018700"/>
            <a:ext cx="745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performance could be due to unbalanced and bad data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39"/>
          <p:cNvSpPr/>
          <p:nvPr/>
        </p:nvSpPr>
        <p:spPr>
          <a:xfrm>
            <a:off x="487150" y="1600300"/>
            <a:ext cx="5933100" cy="5163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/>
        </p:nvSpPr>
        <p:spPr>
          <a:xfrm>
            <a:off x="431469" y="208495"/>
            <a:ext cx="2702904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Key Findings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3" name="Google Shape;303;p40"/>
          <p:cNvSpPr/>
          <p:nvPr/>
        </p:nvSpPr>
        <p:spPr>
          <a:xfrm rot="-3516629">
            <a:off x="-299386" y="4039058"/>
            <a:ext cx="938952" cy="2196754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0"/>
          <p:cNvSpPr/>
          <p:nvPr/>
        </p:nvSpPr>
        <p:spPr>
          <a:xfrm rot="1726970">
            <a:off x="585804" y="4954789"/>
            <a:ext cx="581372" cy="540656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0" y="878200"/>
            <a:ext cx="8354400" cy="3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was some information loss when using hashing on the Store column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was done specifically for the GLR model, so could be removed in a real situation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hyperparameter optimization, GridSearch and RandomSearch took too long; TPE optimization with the Hyperopt Package was our work-around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optimization did not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performance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 → Highly nonlinear features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models → Need more/better data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Ultimately,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analysis needs to be performed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compute capabilities, better dataset, more time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/>
        </p:nvSpPr>
        <p:spPr>
          <a:xfrm>
            <a:off x="431474" y="208500"/>
            <a:ext cx="558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Conclusion and Next Steps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1" name="Google Shape;311;p41"/>
          <p:cNvSpPr/>
          <p:nvPr/>
        </p:nvSpPr>
        <p:spPr>
          <a:xfrm rot="-3517186">
            <a:off x="-298916" y="4038625"/>
            <a:ext cx="938996" cy="2197885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1"/>
          <p:cNvSpPr/>
          <p:nvPr/>
        </p:nvSpPr>
        <p:spPr>
          <a:xfrm rot="1718335">
            <a:off x="587059" y="4954276"/>
            <a:ext cx="580285" cy="53964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445350" y="1280700"/>
            <a:ext cx="82533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have high error (RMSE &gt; 100)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 for better cloud capabilities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different models and hyperparameters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more data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adding some user review information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Mainly the review text content, may be interesting to see if better reviews are correlated with higher prices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/>
        </p:nvSpPr>
        <p:spPr>
          <a:xfrm>
            <a:off x="431474" y="208500"/>
            <a:ext cx="558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Open Issues</a:t>
            </a:r>
            <a:endParaRPr sz="27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9" name="Google Shape;319;p42"/>
          <p:cNvSpPr/>
          <p:nvPr/>
        </p:nvSpPr>
        <p:spPr>
          <a:xfrm rot="-3517186">
            <a:off x="-298916" y="4038625"/>
            <a:ext cx="938996" cy="2197885"/>
          </a:xfrm>
          <a:custGeom>
            <a:rect b="b" l="l" r="r" t="t"/>
            <a:pathLst>
              <a:path extrusionOk="0" h="1501074" w="1137091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2"/>
          <p:cNvSpPr/>
          <p:nvPr/>
        </p:nvSpPr>
        <p:spPr>
          <a:xfrm rot="1718335">
            <a:off x="587059" y="4954276"/>
            <a:ext cx="580285" cy="539645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445350" y="1280700"/>
            <a:ext cx="82533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Ultimately, we were only able to use a small portion of the original dataset due to lack of compute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Lots of issues with cloud throughout the project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disconnecting during runtime, lack of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collaboration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capabilities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Pyspark version tied to dataproc, so you can’t update it easily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have high error, need to be trained on more data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find a better dataset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/>
          <p:nvPr/>
        </p:nvSpPr>
        <p:spPr>
          <a:xfrm rot="5400000">
            <a:off x="7409121" y="2411953"/>
            <a:ext cx="2487517" cy="3626266"/>
          </a:xfrm>
          <a:custGeom>
            <a:rect b="b" l="l" r="r" t="t"/>
            <a:pathLst>
              <a:path extrusionOk="0" h="4835022" w="3991493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2973599" y="2075400"/>
            <a:ext cx="29079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</a:t>
            </a:r>
            <a:r>
              <a:rPr lang="en" sz="60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hanks!</a:t>
            </a:r>
            <a:endParaRPr sz="5000">
              <a:solidFill>
                <a:schemeClr val="dk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8060401" y="3721231"/>
            <a:ext cx="1083599" cy="1007710"/>
          </a:xfrm>
          <a:custGeom>
            <a:rect b="b" l="l" r="r" t="t"/>
            <a:pathLst>
              <a:path extrusionOk="0" h="1343613" w="1444799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43"/>
          <p:cNvGrpSpPr/>
          <p:nvPr/>
        </p:nvGrpSpPr>
        <p:grpSpPr>
          <a:xfrm>
            <a:off x="-3127705" y="-2296799"/>
            <a:ext cx="6438080" cy="6236249"/>
            <a:chOff x="-3350613" y="-3018856"/>
            <a:chExt cx="8584107" cy="8314998"/>
          </a:xfrm>
        </p:grpSpPr>
        <p:sp>
          <p:nvSpPr>
            <p:cNvPr id="330" name="Google Shape;330;p43"/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43"/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rect b="b" l="l" r="r" t="t"/>
              <a:pathLst>
                <a:path extrusionOk="0" h="1501074" w="1137091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43"/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rect b="b" l="l" r="r" t="t"/>
              <a:pathLst>
                <a:path extrusionOk="0" h="1343613" w="1444799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43"/>
          <p:cNvGrpSpPr/>
          <p:nvPr/>
        </p:nvGrpSpPr>
        <p:grpSpPr>
          <a:xfrm>
            <a:off x="3484084" y="2903033"/>
            <a:ext cx="1621160" cy="302450"/>
            <a:chOff x="3184693" y="3692320"/>
            <a:chExt cx="4122991" cy="928045"/>
          </a:xfrm>
        </p:grpSpPr>
        <p:sp>
          <p:nvSpPr>
            <p:cNvPr id="334" name="Google Shape;334;p43"/>
            <p:cNvSpPr/>
            <p:nvPr/>
          </p:nvSpPr>
          <p:spPr>
            <a:xfrm>
              <a:off x="3184693" y="3773539"/>
              <a:ext cx="3757030" cy="846826"/>
            </a:xfrm>
            <a:custGeom>
              <a:rect b="b" l="l" r="r" t="t"/>
              <a:pathLst>
                <a:path extrusionOk="0" h="1039050" w="4609853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43"/>
            <p:cNvSpPr/>
            <p:nvPr/>
          </p:nvSpPr>
          <p:spPr>
            <a:xfrm>
              <a:off x="6535428" y="3692320"/>
              <a:ext cx="772256" cy="760602"/>
            </a:xfrm>
            <a:custGeom>
              <a:rect b="b" l="l" r="r" t="t"/>
              <a:pathLst>
                <a:path extrusionOk="0" h="933254" w="947553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